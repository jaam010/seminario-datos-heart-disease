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03120"/>
            <a:ext cx="1109167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3600">
                <a:solidFill>
                  <a:srgbClr val="2E86AB"/>
                </a:solidFill>
                <a:latin typeface="Calibri"/>
              </a:rPr>
              <a:t>Análisis Exploratorio y Modelamiento del
Dataset Heart Disease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657600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1" sz="2000">
                <a:solidFill>
                  <a:srgbClr val="222222"/>
                </a:solidFill>
                <a:latin typeface="Calibri"/>
              </a:rPr>
              <a:t>Proyecto final – Seminario de Ciencia de Datos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846320"/>
            <a:ext cx="11091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800">
                <a:solidFill>
                  <a:srgbClr val="222222"/>
                </a:solidFill>
                <a:latin typeface="Calibri"/>
              </a:rPr>
              <a:t>Jaime Alzate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4924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500">
                <a:solidFill>
                  <a:srgbClr val="222222"/>
                </a:solidFill>
                <a:latin typeface="Calibri"/>
              </a:rPr>
              <a:t>Desarrollo de Software – 9° semestre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71500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500">
                <a:solidFill>
                  <a:srgbClr val="222222"/>
                </a:solidFill>
                <a:latin typeface="Calibri"/>
              </a:rPr>
              <a:t>Mayo de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3200">
                <a:solidFill>
                  <a:srgbClr val="2E86AB"/>
                </a:solidFill>
                <a:latin typeface="Calibri"/>
              </a:rPr>
              <a:t>¿De qué se trata el proyecto?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91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800">
                <a:solidFill>
                  <a:srgbClr val="A23B72"/>
                </a:solidFill>
                <a:latin typeface="Calibri"/>
              </a:rPr>
              <a:t>Predecir enfermedad cardíaca con datos clínicos del paciente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  •  Dataset: Heart Disease (Cleveland) del UCI – 303 pacientes y 14 variables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  •  Tema de salud: las enfermedades del corazón son la primera causa de muerte en el mundo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  •  El target es binario: 0 = sin enfermedad, 1 = con enfermedad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  •  Cumple lo que pidió el profesor: tiene nulos, outliers y más de 10 variables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  •  Por la cantidad de variables y correlaciones tiene sentido aplicar PCA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1100">
                <a:solidFill>
                  <a:srgbClr val="2E86AB"/>
                </a:solidFill>
                <a:latin typeface="Calibri"/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3200">
                <a:solidFill>
                  <a:srgbClr val="2E86AB"/>
                </a:solidFill>
                <a:latin typeface="Calibri"/>
              </a:rPr>
              <a:t>Metodología: CRISP-DM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91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800">
                <a:solidFill>
                  <a:srgbClr val="A23B72"/>
                </a:solidFill>
                <a:latin typeface="Calibri"/>
              </a:rPr>
              <a:t>El proceso estándar de ciencia de datos, lo que vimos en clase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  •  1. Entender el negocio: ayudar al diagnóstico clínico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  •  2. Entender los datos: dataset clínico, calidad regular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  •  3. Preparar los datos: limpieza + imputación (Entregable 1)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  •  4. Modelar: PCA + filtro de variables + 2 modelos (Entregable 2)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  •  5. Evaluar: accuracy, F1, ROC-AUC, validación cruzada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1100">
                <a:solidFill>
                  <a:srgbClr val="2E86AB"/>
                </a:solidFill>
                <a:latin typeface="Calibri"/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3200">
                <a:solidFill>
                  <a:srgbClr val="2E86AB"/>
                </a:solidFill>
                <a:latin typeface="Calibri"/>
              </a:rPr>
              <a:t>Recap del Entregable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91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800">
                <a:solidFill>
                  <a:srgbClr val="A23B72"/>
                </a:solidFill>
                <a:latin typeface="Calibri"/>
              </a:rPr>
              <a:t>Lo que hice antes de modelar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  •  Apliqué Shapiro-Wilk: ninguna de las 6 variables continuas es normal (p &lt; 0.05)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  •  Encontré 6 nulos: 4 en ca y 2 en thal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  •  La prueba de rachas mostró que los nulos de ca no son aleatorios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  •  Detecté 40 outliers con IQR, los traté con capping para no perder filas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  •  Comparé imputación por mediana vs por regresión bayesiana → me quedé con la segunda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1100">
                <a:solidFill>
                  <a:srgbClr val="2E86AB"/>
                </a:solidFill>
                <a:latin typeface="Calibri"/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3200">
                <a:solidFill>
                  <a:srgbClr val="2E86AB"/>
                </a:solidFill>
                <a:latin typeface="Calibri"/>
              </a:rPr>
              <a:t>PCA: ¿cuántos componentes necesito?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91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800">
                <a:solidFill>
                  <a:srgbClr val="A23B72"/>
                </a:solidFill>
                <a:latin typeface="Calibri"/>
              </a:rPr>
              <a:t>Con 8 componentes ya tengo el 80% de la varianza</a:t>
            </a:r>
          </a:p>
        </p:txBody>
      </p:sp>
      <p:pic>
        <p:nvPicPr>
          <p:cNvPr id="4" name="Picture 3" descr="01_pca_varianz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10698480" cy="37301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515600" y="644652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1100">
                <a:solidFill>
                  <a:srgbClr val="2E86AB"/>
                </a:solidFill>
                <a:latin typeface="Calibri"/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3200">
                <a:solidFill>
                  <a:srgbClr val="2E86AB"/>
                </a:solidFill>
                <a:latin typeface="Calibri"/>
              </a:rPr>
              <a:t>¿Qué significa cada componente?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91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800">
                <a:solidFill>
                  <a:srgbClr val="A23B72"/>
                </a:solidFill>
                <a:latin typeface="Calibri"/>
              </a:rPr>
              <a:t>Mirando las cargas le encontré sentido a los 2 primeros</a:t>
            </a:r>
          </a:p>
        </p:txBody>
      </p:sp>
      <p:pic>
        <p:nvPicPr>
          <p:cNvPr id="4" name="Picture 3" descr="02_pca_load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6400800" cy="478059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0" y="1828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700">
                <a:solidFill>
                  <a:srgbClr val="A23B72"/>
                </a:solidFill>
                <a:latin typeface="Calibri"/>
              </a:rPr>
              <a:t>PC1 – Severidad cardíaca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233172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400">
                <a:solidFill>
                  <a:srgbClr val="222222"/>
                </a:solidFill>
                <a:latin typeface="Calibri"/>
              </a:rPr>
              <a:t>Carga sobre oldpeak, exang, thal y ca.
Son todos hallazgos clínicos.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35204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700">
                <a:solidFill>
                  <a:srgbClr val="A23B72"/>
                </a:solidFill>
                <a:latin typeface="Calibri"/>
              </a:rPr>
              <a:t>PC2 – Perfil del paciente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402336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400">
                <a:solidFill>
                  <a:srgbClr val="222222"/>
                </a:solidFill>
                <a:latin typeface="Calibri"/>
              </a:rPr>
              <a:t>Carga sobre sex, chol y age.
Más un eje demográfico.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52120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400">
                <a:solidFill>
                  <a:srgbClr val="2E86AB"/>
                </a:solidFill>
                <a:latin typeface="Calibri"/>
              </a:rPr>
              <a:t>Reducción: de 13 a 8 variables (38% menos)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4652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1100">
                <a:solidFill>
                  <a:srgbClr val="2E86AB"/>
                </a:solidFill>
                <a:latin typeface="Calibri"/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3200">
                <a:solidFill>
                  <a:srgbClr val="2E86AB"/>
                </a:solidFill>
                <a:latin typeface="Calibri"/>
              </a:rPr>
              <a:t>Selección de variables por correlación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91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800">
                <a:solidFill>
                  <a:srgbClr val="A23B72"/>
                </a:solidFill>
                <a:latin typeface="Calibri"/>
              </a:rPr>
              <a:t>Las 5 variables más correlacionadas con el target</a:t>
            </a:r>
          </a:p>
        </p:txBody>
      </p:sp>
      <p:pic>
        <p:nvPicPr>
          <p:cNvPr id="4" name="Picture 3" descr="03_correlacion_targ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6858000" cy="336919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0" y="18288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000">
                <a:solidFill>
                  <a:srgbClr val="A23B72"/>
                </a:solidFill>
                <a:latin typeface="Calibri"/>
              </a:rPr>
              <a:t>Top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23774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500">
                <a:solidFill>
                  <a:srgbClr val="2E86AB"/>
                </a:solidFill>
                <a:latin typeface="Calibri"/>
              </a:rPr>
              <a:t>thal  (0.522)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0" y="2377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400">
                <a:solidFill>
                  <a:srgbClr val="222222"/>
                </a:solidFill>
                <a:latin typeface="Calibri"/>
              </a:rPr>
              <a:t>Talasemia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8803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500">
                <a:solidFill>
                  <a:srgbClr val="2E86AB"/>
                </a:solidFill>
                <a:latin typeface="Calibri"/>
              </a:rPr>
              <a:t>ca  (0.470)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0" y="28803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400">
                <a:solidFill>
                  <a:srgbClr val="222222"/>
                </a:solidFill>
                <a:latin typeface="Calibri"/>
              </a:rPr>
              <a:t>Vasos fluoroscopia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33832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500">
                <a:solidFill>
                  <a:srgbClr val="2E86AB"/>
                </a:solidFill>
                <a:latin typeface="Calibri"/>
              </a:rPr>
              <a:t>exang  (0.432)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33832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400">
                <a:solidFill>
                  <a:srgbClr val="222222"/>
                </a:solidFill>
                <a:latin typeface="Calibri"/>
              </a:rPr>
              <a:t>Angina con ejercicio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38862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500">
                <a:solidFill>
                  <a:srgbClr val="2E86AB"/>
                </a:solidFill>
                <a:latin typeface="Calibri"/>
              </a:rPr>
              <a:t>oldpeak  (0.430)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0" y="3886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400">
                <a:solidFill>
                  <a:srgbClr val="222222"/>
                </a:solidFill>
                <a:latin typeface="Calibri"/>
              </a:rPr>
              <a:t>Depresión 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43891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500">
                <a:solidFill>
                  <a:srgbClr val="2E86AB"/>
                </a:solidFill>
                <a:latin typeface="Calibri"/>
              </a:rPr>
              <a:t>thalach  (0.418)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84080" y="4389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400">
                <a:solidFill>
                  <a:srgbClr val="222222"/>
                </a:solidFill>
                <a:latin typeface="Calibri"/>
              </a:rPr>
              <a:t>Frec. máx.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44652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1100">
                <a:solidFill>
                  <a:srgbClr val="2E86AB"/>
                </a:solidFill>
                <a:latin typeface="Calibri"/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3200">
                <a:solidFill>
                  <a:srgbClr val="2E86AB"/>
                </a:solidFill>
                <a:latin typeface="Calibri"/>
              </a:rPr>
              <a:t>Los dos modelos que comparé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91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800">
                <a:solidFill>
                  <a:srgbClr val="A23B72"/>
                </a:solidFill>
                <a:latin typeface="Calibri"/>
              </a:rPr>
              <a:t>Escogí los dos primeros ejemplos que pone el profesor en la rúbrica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  •  División 80/20 estratificada (random_state = 42)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  •  Modelo 1: Regresión Logística (lineal, max_iter = 2000, features estandarizadas)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  •  Modelo 2: Árbol de Decisión (no lineal, max_depth = 5, class_weight = 'balanced')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  •  Métricas: accuracy, precision, recall, F1, ROC-AUC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  •  Validación cruzada de 5 pliegues sobre el conjunto de entrenamiento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1100">
                <a:solidFill>
                  <a:srgbClr val="2E86AB"/>
                </a:solidFill>
                <a:latin typeface="Calibri"/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3200">
                <a:solidFill>
                  <a:srgbClr val="2E86AB"/>
                </a:solidFill>
                <a:latin typeface="Calibri"/>
              </a:rPr>
              <a:t>Resultados: matrices y curva ROC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91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800">
                <a:solidFill>
                  <a:srgbClr val="A23B72"/>
                </a:solidFill>
                <a:latin typeface="Calibri"/>
              </a:rPr>
              <a:t>La logística clasifica mejor en ambas clases y tiene mejor AUC</a:t>
            </a:r>
          </a:p>
        </p:txBody>
      </p:sp>
      <p:pic>
        <p:nvPicPr>
          <p:cNvPr id="4" name="Picture 3" descr="04_matrices_confu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554480"/>
            <a:ext cx="6949440" cy="2775189"/>
          </a:xfrm>
          <a:prstGeom prst="rect">
            <a:avLst/>
          </a:prstGeom>
        </p:spPr>
      </p:pic>
      <p:pic>
        <p:nvPicPr>
          <p:cNvPr id="5" name="Picture 4" descr="05_curva_ro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79" y="1554480"/>
            <a:ext cx="4389120" cy="374177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515600" y="644652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1100">
                <a:solidFill>
                  <a:srgbClr val="2E86AB"/>
                </a:solidFill>
                <a:latin typeface="Calibri"/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3200">
                <a:solidFill>
                  <a:srgbClr val="2E86AB"/>
                </a:solidFill>
                <a:latin typeface="Calibri"/>
              </a:rPr>
              <a:t>Comparación de las métricas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91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800">
                <a:solidFill>
                  <a:srgbClr val="A23B72"/>
                </a:solidFill>
                <a:latin typeface="Calibri"/>
              </a:rPr>
              <a:t>La logística gana en las 5 métricas + es más estable en CV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71600" y="1783080"/>
          <a:ext cx="94183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4580"/>
                <a:gridCol w="2354580"/>
                <a:gridCol w="2354580"/>
                <a:gridCol w="2354580"/>
              </a:tblGrid>
              <a:tr h="587828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Métrica</a:t>
                      </a:r>
                    </a:p>
                  </a:txBody>
                  <a:tcPr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Reg. Logística</a:t>
                      </a:r>
                    </a:p>
                  </a:txBody>
                  <a:tcPr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Árbol</a:t>
                      </a:r>
                    </a:p>
                  </a:txBody>
                  <a:tcPr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Ganador</a:t>
                      </a:r>
                    </a:p>
                  </a:txBody>
                  <a:tcPr>
                    <a:solidFill>
                      <a:srgbClr val="2E86AB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22222"/>
                          </a:solidFill>
                          <a:latin typeface="Calibri"/>
                        </a:rPr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22222"/>
                          </a:solidFill>
                          <a:latin typeface="Calibri"/>
                        </a:rPr>
                        <a:t>0.8525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22222"/>
                          </a:solidFill>
                          <a:latin typeface="Calibri"/>
                        </a:rPr>
                        <a:t>0.8033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22222"/>
                          </a:solidFill>
                          <a:latin typeface="Calibri"/>
                        </a:rPr>
                        <a:t>Logística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22222"/>
                          </a:solidFill>
                          <a:latin typeface="Calibri"/>
                        </a:rPr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22222"/>
                          </a:solidFill>
                          <a:latin typeface="Calibri"/>
                        </a:rPr>
                        <a:t>0.7879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22222"/>
                          </a:solidFill>
                          <a:latin typeface="Calibri"/>
                        </a:rPr>
                        <a:t>0.7500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22222"/>
                          </a:solidFill>
                          <a:latin typeface="Calibri"/>
                        </a:rPr>
                        <a:t>Logística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22222"/>
                          </a:solidFill>
                          <a:latin typeface="Calibri"/>
                        </a:rPr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22222"/>
                          </a:solidFill>
                          <a:latin typeface="Calibri"/>
                        </a:rPr>
                        <a:t>0.9286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22222"/>
                          </a:solidFill>
                          <a:latin typeface="Calibri"/>
                        </a:rPr>
                        <a:t>0.8571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22222"/>
                          </a:solidFill>
                          <a:latin typeface="Calibri"/>
                        </a:rPr>
                        <a:t>Logística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22222"/>
                          </a:solidFill>
                          <a:latin typeface="Calibri"/>
                        </a:rPr>
                        <a:t>F1-score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22222"/>
                          </a:solidFill>
                          <a:latin typeface="Calibri"/>
                        </a:rPr>
                        <a:t>0.8525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22222"/>
                          </a:solidFill>
                          <a:latin typeface="Calibri"/>
                        </a:rPr>
                        <a:t>0.8000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22222"/>
                          </a:solidFill>
                          <a:latin typeface="Calibri"/>
                        </a:rPr>
                        <a:t>Logística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22222"/>
                          </a:solidFill>
                          <a:latin typeface="Calibri"/>
                        </a:rPr>
                        <a:t>ROC-AUC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22222"/>
                          </a:solidFill>
                          <a:latin typeface="Calibri"/>
                        </a:rPr>
                        <a:t>0.9535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22222"/>
                          </a:solidFill>
                          <a:latin typeface="Calibri"/>
                        </a:rPr>
                        <a:t>0.8052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22222"/>
                          </a:solidFill>
                          <a:latin typeface="Calibri"/>
                        </a:rPr>
                        <a:t>Logística</a:t>
                      </a:r>
                    </a:p>
                  </a:txBody>
                  <a:tcPr/>
                </a:tc>
              </a:tr>
              <a:tr h="587832"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22222"/>
                          </a:solidFill>
                          <a:latin typeface="Calibri"/>
                        </a:rPr>
                        <a:t>CV-Accuracy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22222"/>
                          </a:solidFill>
                          <a:latin typeface="Calibri"/>
                        </a:rPr>
                        <a:t>0.83 ± 0.05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22222"/>
                          </a:solidFill>
                          <a:latin typeface="Calibri"/>
                        </a:rPr>
                        <a:t>0.72 ± 0.06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22222"/>
                          </a:solidFill>
                          <a:latin typeface="Calibri"/>
                        </a:rPr>
                        <a:t>Logística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515600" y="644652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1100">
                <a:solidFill>
                  <a:srgbClr val="2E86AB"/>
                </a:solidFill>
                <a:latin typeface="Calibri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3200">
                <a:solidFill>
                  <a:srgbClr val="2E86AB"/>
                </a:solidFill>
                <a:latin typeface="Calibri"/>
              </a:rPr>
              <a:t>Algo interesante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91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800">
                <a:solidFill>
                  <a:srgbClr val="A23B72"/>
                </a:solidFill>
                <a:latin typeface="Calibri"/>
              </a:rPr>
              <a:t>Los modelos coinciden en qué variables son las más importantes</a:t>
            </a:r>
          </a:p>
        </p:txBody>
      </p:sp>
      <p:pic>
        <p:nvPicPr>
          <p:cNvPr id="4" name="Picture 3" descr="07_importanc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11064240" cy="384992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515600" y="644652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1100">
                <a:solidFill>
                  <a:srgbClr val="2E86AB"/>
                </a:solidFill>
                <a:latin typeface="Calibri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3200">
                <a:solidFill>
                  <a:srgbClr val="2E86AB"/>
                </a:solidFill>
                <a:latin typeface="Calibri"/>
              </a:rPr>
              <a:t>Conclusiones y lo que falta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91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800">
                <a:solidFill>
                  <a:srgbClr val="A23B72"/>
                </a:solidFill>
                <a:latin typeface="Calibri"/>
              </a:rPr>
              <a:t>Lo que aprendí y lo que haría diferente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>
                <a:solidFill>
                  <a:srgbClr val="222222"/>
                </a:solidFill>
                <a:latin typeface="Calibri"/>
              </a:rPr>
              <a:t>  •  Con PCA pude reducir de 13 a 8 variables (38% menos) y mantener el 80% de la varianza</a:t>
            </a:r>
          </a:p>
          <a:p>
            <a:pPr algn="l">
              <a:spcAft>
                <a:spcPts val="800"/>
              </a:spcAft>
            </a:pPr>
            <a:r>
              <a:rPr sz="1700">
                <a:solidFill>
                  <a:srgbClr val="222222"/>
                </a:solidFill>
                <a:latin typeface="Calibri"/>
              </a:rPr>
              <a:t>  •  Las 5 variables del filtro coinciden con lo que dice la literatura médica</a:t>
            </a:r>
          </a:p>
          <a:p>
            <a:pPr algn="l">
              <a:spcAft>
                <a:spcPts val="800"/>
              </a:spcAft>
            </a:pPr>
            <a:r>
              <a:rPr sz="1700">
                <a:solidFill>
                  <a:srgbClr val="222222"/>
                </a:solidFill>
                <a:latin typeface="Calibri"/>
              </a:rPr>
              <a:t>  •  La Regresión Logística ganó: accuracy 0.85, F1 0.85, ROC-AUC 0.95</a:t>
            </a:r>
          </a:p>
          <a:p>
            <a:pPr algn="l">
              <a:spcAft>
                <a:spcPts val="800"/>
              </a:spcAft>
            </a:pPr>
            <a:r>
              <a:rPr sz="1700">
                <a:solidFill>
                  <a:srgbClr val="222222"/>
                </a:solidFill>
                <a:latin typeface="Calibri"/>
              </a:rPr>
              <a:t>  •  El preprocesamiento del Entregable 1 sí impactó el resultado final</a:t>
            </a:r>
          </a:p>
          <a:p>
            <a:pPr algn="l">
              <a:spcAft>
                <a:spcPts val="800"/>
              </a:spcAft>
            </a:pPr>
            <a:r>
              <a:rPr sz="1700">
                <a:solidFill>
                  <a:srgbClr val="222222"/>
                </a:solidFill>
                <a:latin typeface="Calibri"/>
              </a:rPr>
              <a:t>  •  Trabajo futuro: probar con Random Forest, validar en otros datasets (Hungarian, Switzerland)</a:t>
            </a:r>
          </a:p>
          <a:p>
            <a:pPr algn="l">
              <a:spcAft>
                <a:spcPts val="800"/>
              </a:spcAft>
            </a:pPr>
            <a:r>
              <a:rPr sz="1700">
                <a:solidFill>
                  <a:srgbClr val="222222"/>
                </a:solidFill>
                <a:latin typeface="Calibri"/>
              </a:rPr>
              <a:t>  •  Código publicado en GitHub: github.com/JAAM010/seminario-datos-heart-disease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1100">
                <a:solidFill>
                  <a:srgbClr val="2E86AB"/>
                </a:solidFill>
                <a:latin typeface="Calibri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