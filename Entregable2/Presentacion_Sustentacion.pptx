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800">
                <a:solidFill>
                  <a:srgbClr val="2E86AB"/>
                </a:solidFill>
                <a:latin typeface="Calibri"/>
              </a:rPr>
              <a:t>Analisis Exploratorio y Modelamiento Supervisado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83280"/>
            <a:ext cx="1109167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i="1">
                <a:solidFill>
                  <a:srgbClr val="222222"/>
                </a:solidFill>
                <a:latin typeface="Calibri"/>
              </a:rPr>
              <a:t>Dataset Heart Disease - UCI Machine Learning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Calibri"/>
              </a:rPr>
              <a:t>Jaime Alzate</a:t>
            </a:r>
          </a:p>
          <a:p>
            <a:pPr algn="ctr"/>
            <a:r>
              <a:rPr sz="1600">
                <a:solidFill>
                  <a:srgbClr val="222222"/>
                </a:solidFill>
                <a:latin typeface="Calibri"/>
              </a:rPr>
              <a:t>Programa de Desarrollo de Software - Noveno Semestre</a:t>
            </a:r>
          </a:p>
          <a:p>
            <a:pPr algn="ctr"/>
            <a:r>
              <a:rPr sz="1600">
                <a:solidFill>
                  <a:srgbClr val="222222"/>
                </a:solidFill>
                <a:latin typeface="Calibri"/>
              </a:rPr>
              <a:t>Seminario de Ciencia de los Datos |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Problema y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Apoyar la deteccion temprana de enfermedad coronaria con datos clinicos no invasivos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Dataset Heart Disease (Cleveland) del UCI ML Repository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303 observaciones x 14 variables (13 predictoras + 1 objetivo)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Variable objetivo: presencia o no de enfermedad cardiaca (binaria)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Retos identificados: nulos codificados como '?', outliers en colesterol y presion, variables categoricas codificadas como numericas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Justifica PCA por dimensionalidad y correlaciones internas entre features clinicas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Metodologia CRISP-DM aplicada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Recorrido completo de las 5 fases del proceso de mineria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1. Comprension del negocio: diagnostico clinico apoyado por ML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2. Comprension de los datos: 303 registros, 14 features, calidad deficiente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3. Preparacion: capping por IQR + imputacion bayesiana (Entregable 1)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4. Modelado: PCA + seleccion por correlacion + 2 modelos supervisados (Entregable 2)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5. Evaluacion: accuracy, F1, ROC-AUC, validacion cruzada 5-fold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Entregable 1 - Resumen del preprocesamiento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Calidad de datos: 6 nulos tratados y 40 outliers controlados sin perder filas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Normalidad rechazada por Shapiro-Wilk en las 6 variables continuas (p &lt;&lt; 0.05)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Nulos: 4 en 'ca' y 2 en 'thal'. Prueba de rachas: patron MAR en 'ca'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Outliers detectados por IQR: 40 en total. Tratamiento por capping (sin perder filas)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Imputacion comparativa: mediana vs IterativeImputer (BayesianRidge) -&gt; se eligio la segunda por preservar la varianza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Dataset final listo para modelado: 303 filas x 13 features +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VI. PCA - Varianza explicada y proyeccion 2D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8 componentes preservan el 80% de la varianza original</a:t>
            </a:r>
          </a:p>
        </p:txBody>
      </p:sp>
      <p:pic>
        <p:nvPicPr>
          <p:cNvPr id="4" name="Picture 3" descr="01_pca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37173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VI. PCA - Interpretacion de componentes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PC1 = severidad cardiaca; PC2 = eje demografico-metabolico</a:t>
            </a:r>
          </a:p>
        </p:txBody>
      </p:sp>
      <p:pic>
        <p:nvPicPr>
          <p:cNvPr id="4" name="Picture 3" descr="02_pca_lo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675120" cy="49802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82880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600">
                <a:solidFill>
                  <a:srgbClr val="A23B72"/>
                </a:solidFill>
              </a:rPr>
              <a:t>PC1: oldpeak, exang, thal, ca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22222"/>
                </a:solidFill>
              </a:rPr>
              <a:t>Variables clinicas y de imagen asociadas a severidad coronaria</a:t>
            </a:r>
          </a:p>
          <a:p>
            <a:pPr>
              <a:spcAft>
                <a:spcPts val="200"/>
              </a:spcAft>
            </a:pPr>
            <a:r>
              <a:rPr b="1" sz="1600">
                <a:solidFill>
                  <a:srgbClr val="A23B72"/>
                </a:solidFill>
              </a:rPr>
              <a:t>PC2: age, sex, chol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22222"/>
                </a:solidFill>
              </a:rPr>
              <a:t>Eje demografico-metabolico (perfil del paciente)</a:t>
            </a:r>
          </a:p>
          <a:p>
            <a:pPr>
              <a:spcAft>
                <a:spcPts val="200"/>
              </a:spcAft>
            </a:pPr>
            <a:r>
              <a:rPr b="1" sz="1600">
                <a:solidFill>
                  <a:srgbClr val="A23B72"/>
                </a:solidFill>
              </a:rPr>
              <a:t>Reduccion 13 -&gt; 8 (38%)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22222"/>
                </a:solidFill>
              </a:rPr>
              <a:t>Equilibrio entre simplicidad e informacion preservada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VII. Seleccion de caracteristicas (filtro Pearson)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Top 5: thal, ca, exang, oldpeak, thalach</a:t>
            </a:r>
          </a:p>
        </p:txBody>
      </p:sp>
      <p:pic>
        <p:nvPicPr>
          <p:cNvPr id="4" name="Picture 3" descr="03_correlacion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3414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828800"/>
            <a:ext cx="4023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800">
                <a:solidFill>
                  <a:srgbClr val="A23B72"/>
                </a:solidFill>
              </a:rPr>
              <a:t>Top 5 features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E86AB"/>
                </a:solidFill>
              </a:rPr>
              <a:t>  thal (0.5221)  </a:t>
            </a:r>
            <a:r>
              <a:rPr sz="1400">
                <a:solidFill>
                  <a:srgbClr val="222222"/>
                </a:solidFill>
              </a:rPr>
              <a:t>Talasemia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E86AB"/>
                </a:solidFill>
              </a:rPr>
              <a:t>  ca (0.4702)  </a:t>
            </a:r>
            <a:r>
              <a:rPr sz="1400">
                <a:solidFill>
                  <a:srgbClr val="222222"/>
                </a:solidFill>
              </a:rPr>
              <a:t>Vasos fluoroscopia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E86AB"/>
                </a:solidFill>
              </a:rPr>
              <a:t>  exang (0.4319)  </a:t>
            </a:r>
            <a:r>
              <a:rPr sz="1400">
                <a:solidFill>
                  <a:srgbClr val="222222"/>
                </a:solidFill>
              </a:rPr>
              <a:t>Angina ejercicio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E86AB"/>
                </a:solidFill>
              </a:rPr>
              <a:t>  oldpeak (0.4303)  </a:t>
            </a:r>
            <a:r>
              <a:rPr sz="1400">
                <a:solidFill>
                  <a:srgbClr val="222222"/>
                </a:solidFill>
              </a:rPr>
              <a:t>Depresion ST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E86AB"/>
                </a:solidFill>
              </a:rPr>
              <a:t>  thalach (0.4176)  </a:t>
            </a:r>
            <a:r>
              <a:rPr sz="1400">
                <a:solidFill>
                  <a:srgbClr val="222222"/>
                </a:solidFill>
              </a:rPr>
              <a:t>Frecuencia max.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VIII. Modelamiento - Setup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Comparacion entre dos modelos supervisados vistos en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Particion estratificada 80/20: 242 train | 61 test (random_state = 42)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Modelo 1 - Regresion Logistica: max_iter=2000, features estandarizadas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Modelo 2 - Arbol de Decision: max_depth=5, class_weight balanceado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Metricas: accuracy, precision, recall, F1, ROC-AUC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  •  Validacion cruzada de 5 pliegues sobre el conjunto de entrenamiento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VIII. Resultados - Matrices y ROC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La Regresion Logistica clasifica mejor en ambas clases</a:t>
            </a:r>
          </a:p>
        </p:txBody>
      </p:sp>
      <p:pic>
        <p:nvPicPr>
          <p:cNvPr id="4" name="Picture 3" descr="04_matrice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6949440" cy="2763252"/>
          </a:xfrm>
          <a:prstGeom prst="rect">
            <a:avLst/>
          </a:prstGeom>
        </p:spPr>
      </p:pic>
      <p:pic>
        <p:nvPicPr>
          <p:cNvPr id="5" name="Picture 4" descr="05_curva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463040"/>
            <a:ext cx="4389120" cy="37358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VIII. Comparacion de metricas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Logistica gana en todas las metricas + menor varianza en CV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Metrica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Regresion Logistica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Arbol de Decision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Ganador</a:t>
                      </a:r>
                    </a:p>
                  </a:txBody>
                  <a:tcPr>
                    <a:solidFill>
                      <a:srgbClr val="2E86A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Logistica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0.7879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0.7500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Logistica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0.9286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Logistica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Logistica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0.9535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Logistica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CV-Accuracy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0.8263 ± 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0.7151 ± 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Logistica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VIII. Coherencia entre modelos y filtro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Ambos modelos priorizan las variables identificadas por correlacion</a:t>
            </a:r>
          </a:p>
        </p:txBody>
      </p:sp>
      <p:pic>
        <p:nvPicPr>
          <p:cNvPr id="4" name="Picture 3" descr="07_importancia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064240" cy="38384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200">
                <a:solidFill>
                  <a:srgbClr val="222222"/>
                </a:solidFill>
                <a:latin typeface="Calibri"/>
              </a:rPr>
              <a:t>IX. Conclusiones y trabajo 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800">
                <a:solidFill>
                  <a:srgbClr val="2E86AB"/>
                </a:solidFill>
                <a:latin typeface="Calibri"/>
              </a:rPr>
              <a:t>El preprocesamiento riguroso + modelo lineal = clasificador clinicamente util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PCA: 8 componentes explican 80% de la varianza; PC1 = severidad cardiaca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Top 5 features (thal, ca, exang, oldpeak, thalach) coherentes con la literatura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Regresion Logistica gana: accuracy 0.85, F1 0.85, ROC-AUC 0.95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Capping + imputacion bayesiana del Entregable 1 fueron criticos para el desempeno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Trabajo futuro: validar en cohortes Hungarian/Switzerland + ensamble (Random Forest, XGBoost) + explicabilidad SHAP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  •  Repositorio publicado en GitHub para el componente de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2E86AB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